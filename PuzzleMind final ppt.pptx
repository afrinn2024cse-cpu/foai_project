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JetBrains Mono"/>
      <p:bold r:id="rId17"/>
    </p:embeddedFont>
    <p:embeddedFont>
      <p:font typeface="Plus Jakarta Sans"/>
      <p:bold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75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62000" y="1998315"/>
            <a:ext cx="5100637" cy="342900"/>
          </a:xfrm>
          <a:prstGeom prst="roundRect">
            <a:avLst>
              <a:gd name="adj" fmla="val 50000"/>
            </a:avLst>
          </a:prstGeom>
          <a:solidFill>
            <a:srgbClr val="222556"/>
          </a:solidFill>
          <a:ln w="9525">
            <a:solidFill>
              <a:srgbClr val="373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4049910"/>
            <a:ext cx="857250" cy="38100"/>
          </a:xfrm>
          <a:prstGeom prst="roundRect">
            <a:avLst>
              <a:gd name="adj" fmla="val 50000"/>
            </a:avLst>
          </a:prstGeom>
          <a:solidFill>
            <a:srgbClr val="4E9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62000" y="4430910"/>
            <a:ext cx="1581150" cy="428625"/>
          </a:xfrm>
          <a:prstGeom prst="roundRect">
            <a:avLst>
              <a:gd name="adj" fmla="val 26666"/>
            </a:avLst>
          </a:prstGeom>
          <a:solidFill>
            <a:srgbClr val="232545"/>
          </a:solidFill>
          <a:ln w="9525">
            <a:solidFill>
              <a:srgbClr val="2E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495550" y="4430910"/>
            <a:ext cx="1609725" cy="428625"/>
          </a:xfrm>
          <a:prstGeom prst="roundRect">
            <a:avLst>
              <a:gd name="adj" fmla="val 26666"/>
            </a:avLst>
          </a:prstGeom>
          <a:solidFill>
            <a:srgbClr val="232545"/>
          </a:solidFill>
          <a:ln w="9525">
            <a:solidFill>
              <a:srgbClr val="2E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257675" y="4430910"/>
            <a:ext cx="1933575" cy="428625"/>
          </a:xfrm>
          <a:prstGeom prst="roundRect">
            <a:avLst>
              <a:gd name="adj" fmla="val 26666"/>
            </a:avLst>
          </a:prstGeom>
          <a:solidFill>
            <a:srgbClr val="232545"/>
          </a:solidFill>
          <a:ln w="9525">
            <a:solidFill>
              <a:srgbClr val="2E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343650" y="4430910"/>
            <a:ext cx="1752600" cy="428625"/>
          </a:xfrm>
          <a:prstGeom prst="roundRect">
            <a:avLst>
              <a:gd name="adj" fmla="val 26666"/>
            </a:avLst>
          </a:prstGeom>
          <a:solidFill>
            <a:srgbClr val="232545"/>
          </a:solidFill>
          <a:ln w="9525">
            <a:solidFill>
              <a:srgbClr val="2E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975" y="2084040"/>
            <a:ext cx="19050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4569023"/>
            <a:ext cx="15240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5575" y="4569023"/>
            <a:ext cx="1524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7700" y="4569023"/>
            <a:ext cx="15240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3675" y="4569023"/>
            <a:ext cx="152400" cy="152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2000" y="2607915"/>
            <a:ext cx="4300537" cy="670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sz="4800" b="1" i="0" u="none">
                <a:solidFill>
                  <a:srgbClr val="FFFFFF"/>
                </a:solidFill>
                <a:latin typeface="Plus Jakarta Sans"/>
              </a:rPr>
              <a:t>PuzzleMind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3430785"/>
            <a:ext cx="6465093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38BDF8"/>
                </a:solidFill>
                <a:latin typeface="Plus Jakarta Sans"/>
              </a:rPr>
              <a:t>Interactive CSP &amp; Search Visualization Suite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7775" y="2088802"/>
            <a:ext cx="5542359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A5B4FC"/>
                </a:solidFill>
                <a:latin typeface="JetBrains Mono"/>
              </a:rPr>
              <a:t>ARTIFICIAL INTELLIGENCE &amp; CONSTRAINT SATISFACTION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9675" y="4554735"/>
            <a:ext cx="12192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Plus Jakarta Sans"/>
              </a:rPr>
              <a:t>Backtracking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43225" y="4554735"/>
            <a:ext cx="12477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Plus Jakarta Sans"/>
              </a:rPr>
              <a:t>MRV Heuristic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5350" y="4554735"/>
            <a:ext cx="160734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Plus Jakarta Sans"/>
              </a:rPr>
              <a:t>Forward Checking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91325" y="4554735"/>
            <a:ext cx="13906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Plus Jakarta Sans"/>
              </a:rPr>
              <a:t>Domain Pruning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915566"/>
            <a:ext cx="5846415" cy="1177230"/>
          </a:xfrm>
          <a:prstGeom prst="roundRect">
            <a:avLst>
              <a:gd name="adj" fmla="val 1294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264247"/>
            <a:ext cx="5846415" cy="1177230"/>
          </a:xfrm>
          <a:prstGeom prst="roundRect">
            <a:avLst>
              <a:gd name="adj" fmla="val 1294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612927"/>
            <a:ext cx="5846415" cy="1177230"/>
          </a:xfrm>
          <a:prstGeom prst="roundRect">
            <a:avLst>
              <a:gd name="adj" fmla="val 1294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3083272"/>
            <a:ext cx="58464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1915566"/>
            <a:ext cx="58464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1915566"/>
            <a:ext cx="47625" cy="117723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46490" y="1915566"/>
            <a:ext cx="9525" cy="117723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4431952"/>
            <a:ext cx="58464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600" y="3264247"/>
            <a:ext cx="58464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600" y="3264247"/>
            <a:ext cx="47625" cy="117723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46490" y="3264247"/>
            <a:ext cx="9525" cy="117723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9600" y="5780633"/>
            <a:ext cx="58464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9600" y="4612927"/>
            <a:ext cx="58464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9600" y="4612927"/>
            <a:ext cx="47625" cy="117723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46490" y="4612927"/>
            <a:ext cx="9525" cy="117723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915" y="1304925"/>
            <a:ext cx="4783484" cy="5095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840" y="1466850"/>
            <a:ext cx="4459634" cy="47720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9600" y="457200"/>
            <a:ext cx="308371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4F46E5"/>
                </a:solidFill>
                <a:latin typeface="JetBrains Mono"/>
              </a:rPr>
              <a:t>01. 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657225"/>
            <a:ext cx="3237904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Project Abstract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875" y="2134641"/>
            <a:ext cx="694832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Interactive Web Solver Suite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875" y="2420391"/>
            <a:ext cx="5389215" cy="45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0" i="0" u="none">
                <a:solidFill>
                  <a:srgbClr val="475569"/>
                </a:solidFill>
                <a:latin typeface="Plus Jakarta Sans"/>
              </a:rPr>
              <a:t>Exposes internal AI solver decisions, candidate domains, conflicts, and pruning live.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4875" y="3483322"/>
            <a:ext cx="694832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Four Core Puzzle Domains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4875" y="3769072"/>
            <a:ext cx="5389215" cy="45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0" i="0" u="none">
                <a:solidFill>
                  <a:srgbClr val="475569"/>
                </a:solidFill>
                <a:latin typeface="Plus Jakarta Sans"/>
              </a:rPr>
              <a:t>Unified support for Sudoku, N-Queens, Map Coloring, and Kakuro solvers.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4875" y="4832002"/>
            <a:ext cx="694832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Heuristic Space Reduction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4875" y="5117752"/>
            <a:ext cx="5389215" cy="45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0" i="0" u="none">
                <a:solidFill>
                  <a:srgbClr val="475569"/>
                </a:solidFill>
                <a:latin typeface="Plus Jakarta Sans"/>
              </a:rPr>
              <a:t>Demonstrates search space compression via MRV variable ordering and Forward Checking.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566862"/>
            <a:ext cx="4953000" cy="4572000"/>
          </a:xfrm>
          <a:prstGeom prst="roundRect">
            <a:avLst>
              <a:gd name="adj" fmla="val 4166"/>
            </a:avLst>
          </a:prstGeom>
          <a:solidFill>
            <a:srgbClr val="FFF5F5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629400" y="1566862"/>
            <a:ext cx="4953000" cy="4572000"/>
          </a:xfrm>
          <a:prstGeom prst="roundRect">
            <a:avLst>
              <a:gd name="adj" fmla="val 4166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3586162"/>
            <a:ext cx="533400" cy="533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25" y="2675929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5987" y="3738562"/>
            <a:ext cx="20002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1825" y="2675929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5850" y="2799754"/>
            <a:ext cx="20955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025" y="3352204"/>
            <a:ext cx="123825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2025" y="3965376"/>
            <a:ext cx="123825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025" y="4578548"/>
            <a:ext cx="123825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29462" y="2799754"/>
            <a:ext cx="161925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81825" y="3352204"/>
            <a:ext cx="152400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81825" y="3965376"/>
            <a:ext cx="152400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81825" y="4578548"/>
            <a:ext cx="152400" cy="171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4F46E5"/>
                </a:solidFill>
                <a:latin typeface="JetBrains Mono"/>
              </a:rPr>
              <a:t>02. MOTIVATION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572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Problem Statement &amp; 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3525" y="2771179"/>
            <a:ext cx="246280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9F1239"/>
                </a:solidFill>
                <a:latin typeface="Plus Jakarta Sans"/>
              </a:rPr>
              <a:t>Traditional Solvers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53325" y="2771179"/>
            <a:ext cx="268783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4532D"/>
                </a:solidFill>
                <a:latin typeface="Plus Jakarta Sans"/>
              </a:rPr>
              <a:t>PuzzleMind 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0150" y="3323629"/>
            <a:ext cx="4105275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881337"/>
                </a:solidFill>
                <a:latin typeface="Plus Jakarta Sans"/>
              </a:rPr>
              <a:t>Display only final matrix outputs without exposing search paths.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0150" y="3936801"/>
            <a:ext cx="4105275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881337"/>
                </a:solidFill>
                <a:latin typeface="Plus Jakarta Sans"/>
              </a:rPr>
              <a:t>Hide variable selection logic, domain reductions, and backtrack causes.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549973"/>
            <a:ext cx="4105275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881337"/>
                </a:solidFill>
                <a:latin typeface="Plus Jakarta Sans"/>
              </a:rPr>
              <a:t>Theoretical heuristic algorithms remain black-box models for learners.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48525" y="3323629"/>
            <a:ext cx="40767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166534"/>
                </a:solidFill>
                <a:latin typeface="Plus Jakarta Sans"/>
              </a:rPr>
              <a:t>Connects theoretical mechanics with real-time visual step execution.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48525" y="3936801"/>
            <a:ext cx="40767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166534"/>
                </a:solidFill>
                <a:latin typeface="Plus Jakarta Sans"/>
              </a:rPr>
              <a:t>Renders candidate domain changes and search trees step-by-step.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48525" y="4549973"/>
            <a:ext cx="40767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166534"/>
                </a:solidFill>
                <a:latin typeface="Plus Jakarta Sans"/>
              </a:rPr>
              <a:t>Quantifies heuristic impact with live node and backtrack metrics.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43025"/>
            <a:ext cx="5372100" cy="2414587"/>
          </a:xfrm>
          <a:prstGeom prst="roundRect">
            <a:avLst>
              <a:gd name="adj" fmla="val 63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1343025"/>
            <a:ext cx="5372100" cy="2414587"/>
          </a:xfrm>
          <a:prstGeom prst="roundRect">
            <a:avLst>
              <a:gd name="adj" fmla="val 63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986212"/>
            <a:ext cx="5372100" cy="2414587"/>
          </a:xfrm>
          <a:prstGeom prst="roundRect">
            <a:avLst>
              <a:gd name="adj" fmla="val 63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3986212"/>
            <a:ext cx="5372100" cy="2414587"/>
          </a:xfrm>
          <a:prstGeom prst="roundRect">
            <a:avLst>
              <a:gd name="adj" fmla="val 63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1619250"/>
            <a:ext cx="495300" cy="495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1619250"/>
            <a:ext cx="495300" cy="495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4262437"/>
            <a:ext cx="495300" cy="4953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525" y="4262437"/>
            <a:ext cx="495300" cy="4953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887" y="1752600"/>
            <a:ext cx="257175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9875" y="1752600"/>
            <a:ext cx="22860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175" y="4395787"/>
            <a:ext cx="228600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9875" y="4395787"/>
            <a:ext cx="228600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4F46E5"/>
                </a:solidFill>
                <a:latin typeface="JetBrains Mono"/>
              </a:rPr>
              <a:t>03. FOUNDATIONS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572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Literature Survey &amp; Core Concepts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1625" y="1619250"/>
            <a:ext cx="542567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CSP Formalization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1625" y="1914525"/>
            <a:ext cx="4229100" cy="45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0" i="0" u="none">
                <a:solidFill>
                  <a:srgbClr val="475569"/>
                </a:solidFill>
                <a:latin typeface="Plus Jakarta Sans"/>
              </a:rPr>
              <a:t>Models complex logic via variables, discrete domains, and explicit binary constraints.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2325" y="1619250"/>
            <a:ext cx="50196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Backtracking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2325" y="1914525"/>
            <a:ext cx="4229100" cy="45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0" i="0" u="none">
                <a:solidFill>
                  <a:srgbClr val="475569"/>
                </a:solidFill>
                <a:latin typeface="Plus Jakarta Sans"/>
              </a:rPr>
              <a:t>Systematically assigns values and reverts state instantly upon constraint violation.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1625" y="4262437"/>
            <a:ext cx="542567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MRV Heuristic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1625" y="4557712"/>
            <a:ext cx="4229100" cy="45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0" i="0" u="none">
                <a:solidFill>
                  <a:srgbClr val="475569"/>
                </a:solidFill>
                <a:latin typeface="Plus Jakarta Sans"/>
              </a:rPr>
              <a:t>Prioritizes unassigned variables with the smallest remaining valid candidate choices.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2325" y="4262437"/>
            <a:ext cx="50196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Forward Checking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2325" y="4557712"/>
            <a:ext cx="4229100" cy="45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0" i="0" u="none">
                <a:solidFill>
                  <a:srgbClr val="475569"/>
                </a:solidFill>
                <a:latin typeface="Plus Jakarta Sans"/>
              </a:rPr>
              <a:t>Prunes invalid candidate values from neighbor domains before assignment fails.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04925"/>
            <a:ext cx="5334000" cy="5095875"/>
          </a:xfrm>
          <a:prstGeom prst="roundRect">
            <a:avLst>
              <a:gd name="adj" fmla="val 29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1304925"/>
            <a:ext cx="5334000" cy="5095875"/>
          </a:xfrm>
          <a:prstGeom prst="roundRect">
            <a:avLst>
              <a:gd name="adj" fmla="val 2990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23925" y="1619250"/>
            <a:ext cx="4705350" cy="371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62725" y="1619250"/>
            <a:ext cx="4705350" cy="371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23925" y="1971675"/>
            <a:ext cx="47053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62725" y="1971675"/>
            <a:ext cx="4705350" cy="19050"/>
          </a:xfrm>
          <a:prstGeom prst="rect">
            <a:avLst/>
          </a:prstGeom>
          <a:solidFill>
            <a:srgbClr val="C7D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1633537"/>
            <a:ext cx="20955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1633537"/>
            <a:ext cx="209550" cy="209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4F46E5"/>
                </a:solidFill>
                <a:latin typeface="JetBrains Mono"/>
              </a:rPr>
              <a:t>04. CORE 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572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Research Gap &amp; System 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7775" y="1619250"/>
            <a:ext cx="288786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Identified Research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2181225"/>
            <a:ext cx="48006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EF4444"/>
                </a:solidFill>
                <a:latin typeface="Plus Jakarta Sans"/>
              </a:rPr>
              <a:t>• Single Puzzle Focus: Educational tools rarely offer multi-puzzle unified visualization.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2752725"/>
            <a:ext cx="48006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EF4444"/>
                </a:solidFill>
                <a:latin typeface="Plus Jakarta Sans"/>
              </a:rPr>
              <a:t>• Theoretical Metrics: Heuristic efficiency is described abstractly rather than demonstrated visually.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3324225"/>
            <a:ext cx="48006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EF4444"/>
                </a:solidFill>
                <a:latin typeface="Plus Jakarta Sans"/>
              </a:rPr>
              <a:t>• Opaque Execution: Rejection rationale and domain pruning events remain unexposed to users.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86575" y="1619250"/>
            <a:ext cx="275034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1B4B"/>
                </a:solidFill>
                <a:latin typeface="Plus Jakarta Sans"/>
              </a:rPr>
              <a:t>PuzzleMind Objectives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2181225"/>
            <a:ext cx="48006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4F46E5"/>
                </a:solidFill>
                <a:latin typeface="Plus Jakarta Sans"/>
              </a:rPr>
              <a:t>✓ Unified Platform: Solves Sudoku, N-Queens, Map Coloring, and Kakuro.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2725" y="2752725"/>
            <a:ext cx="48006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4F46E5"/>
                </a:solidFill>
                <a:latin typeface="Plus Jakarta Sans"/>
              </a:rPr>
              <a:t>✓ Step Playback: Replays solver timelines with pause, step, speed, and reset controls.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2725" y="3324225"/>
            <a:ext cx="48006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4F46E5"/>
                </a:solidFill>
                <a:latin typeface="Plus Jakarta Sans"/>
              </a:rPr>
              <a:t>✓ Measurable Stats: Quantifies nodes explored, backtracks, and pruned domain candidates live.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71737"/>
            <a:ext cx="5846415" cy="819150"/>
          </a:xfrm>
          <a:prstGeom prst="roundRect">
            <a:avLst>
              <a:gd name="adj" fmla="val 1860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443287"/>
            <a:ext cx="5846415" cy="819150"/>
          </a:xfrm>
          <a:prstGeom prst="roundRect">
            <a:avLst>
              <a:gd name="adj" fmla="val 1860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414837"/>
            <a:ext cx="5846415" cy="819150"/>
          </a:xfrm>
          <a:prstGeom prst="roundRect">
            <a:avLst>
              <a:gd name="adj" fmla="val 1860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915" y="1304925"/>
            <a:ext cx="4783484" cy="5095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2709862"/>
            <a:ext cx="342900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3681412"/>
            <a:ext cx="428625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4652962"/>
            <a:ext cx="390525" cy="342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0840" y="1466850"/>
            <a:ext cx="4459634" cy="47720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4F46E5"/>
                </a:solidFill>
                <a:latin typeface="JetBrains Mono"/>
              </a:rPr>
              <a:t>05. SYSTEM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572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Architecture &amp; Tech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62075" y="2671762"/>
            <a:ext cx="452556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Frontend Presentation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62075" y="2909887"/>
            <a:ext cx="43100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React + Vite interactive puzzle boards and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7800" y="3643312"/>
            <a:ext cx="532566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CSP Solver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7800" y="3881437"/>
            <a:ext cx="50720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Recursive solver with MRV heuristics &amp; constraint 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9700" y="4614862"/>
            <a:ext cx="516314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Visualization Event Stream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9700" y="4852987"/>
            <a:ext cx="491728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Event emitter rendering domain updates &amp; search metrics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76487"/>
            <a:ext cx="5846415" cy="514350"/>
          </a:xfrm>
          <a:prstGeom prst="roundRect">
            <a:avLst>
              <a:gd name="adj" fmla="val 222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986087"/>
            <a:ext cx="5846415" cy="514350"/>
          </a:xfrm>
          <a:prstGeom prst="roundRect">
            <a:avLst>
              <a:gd name="adj" fmla="val 222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595687"/>
            <a:ext cx="5846415" cy="514350"/>
          </a:xfrm>
          <a:prstGeom prst="roundRect">
            <a:avLst>
              <a:gd name="adj" fmla="val 222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205287"/>
            <a:ext cx="5846415" cy="514350"/>
          </a:xfrm>
          <a:prstGeom prst="roundRect">
            <a:avLst>
              <a:gd name="adj" fmla="val 222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4814887"/>
            <a:ext cx="5846415" cy="514350"/>
          </a:xfrm>
          <a:prstGeom prst="roundRect">
            <a:avLst>
              <a:gd name="adj" fmla="val 222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90575" y="2500312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90575" y="3109912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90575" y="3719512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90575" y="4329112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90575" y="4938712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915" y="1304925"/>
            <a:ext cx="4783484" cy="5095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840" y="1466850"/>
            <a:ext cx="4459634" cy="47720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4F46E5"/>
                </a:solidFill>
                <a:latin typeface="JetBrains Mono"/>
              </a:rPr>
              <a:t>06. ALGORITHM EXECUTION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572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Proposed Solver Algorithm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" y="2500312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0625" y="2533650"/>
            <a:ext cx="51315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Represent puzzle as variables, domains, and constraints.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" y="3109912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90625" y="3143250"/>
            <a:ext cx="429815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Select unassigned variable using MRV heuristic.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" y="3719512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90625" y="3752850"/>
            <a:ext cx="42505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Assign candidate values and verify constraints.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700" y="4329112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FFFFFF"/>
                </a:solidFill>
                <a:latin typeface="JetBrains Mono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90625" y="4362450"/>
            <a:ext cx="48101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Apply Forward Checking to prune neighbor domains.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700" y="4938712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FFFFFF"/>
                </a:solidFill>
                <a:latin typeface="JetBrains Mono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90625" y="4972050"/>
            <a:ext cx="40957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Backtrack on conflict; repeat until complete.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04925"/>
            <a:ext cx="5334000" cy="5095875"/>
          </a:xfrm>
          <a:prstGeom prst="roundRect">
            <a:avLst>
              <a:gd name="adj" fmla="val 299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1304925"/>
            <a:ext cx="5334000" cy="5095875"/>
          </a:xfrm>
          <a:prstGeom prst="roundRect">
            <a:avLst>
              <a:gd name="adj" fmla="val 2990"/>
            </a:avLst>
          </a:prstGeom>
          <a:solidFill>
            <a:srgbClr val="FF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6391275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1304925"/>
            <a:ext cx="533400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1304925"/>
            <a:ext cx="9525" cy="50958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34075" y="1304925"/>
            <a:ext cx="9525" cy="50958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48400" y="6391275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48400" y="1304925"/>
            <a:ext cx="53340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48400" y="1304925"/>
            <a:ext cx="9525" cy="50958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572875" y="1304925"/>
            <a:ext cx="9525" cy="50958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1662112"/>
            <a:ext cx="266700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1662112"/>
            <a:ext cx="209550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4F46E5"/>
                </a:solidFill>
                <a:latin typeface="JetBrains Mono"/>
              </a:rPr>
              <a:t>07. SCOPE &amp;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572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Implementation Features &amp;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2038350"/>
            <a:ext cx="4800600" cy="45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1" i="0" u="none">
                <a:solidFill>
                  <a:srgbClr val="475569"/>
                </a:solidFill>
                <a:latin typeface="Plus Jakarta Sans"/>
              </a:rPr>
              <a:t>• Event-Driven Stream: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Real-time decision logs streamed asynchronously to the React state.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" y="2644080"/>
            <a:ext cx="4800600" cy="45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1" i="0" u="none">
                <a:solidFill>
                  <a:srgbClr val="475569"/>
                </a:solidFill>
                <a:latin typeface="Plus Jakarta Sans"/>
              </a:rPr>
              <a:t>• Interactive Controls: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Supports Start, Pause, Step Next, Speed Slider, and Board Reset.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" y="3249810"/>
            <a:ext cx="4800600" cy="45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1" i="0" u="none">
                <a:solidFill>
                  <a:srgbClr val="475569"/>
                </a:solidFill>
                <a:latin typeface="Plus Jakarta Sans"/>
              </a:rPr>
              <a:t>• State Inspection: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Displays candidate domains, active constraints, and current depth level.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2725" y="2038350"/>
            <a:ext cx="4800600" cy="45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1" i="0" u="none">
                <a:solidFill>
                  <a:srgbClr val="78350F"/>
                </a:solidFill>
                <a:latin typeface="Plus Jakarta Sans"/>
              </a:rPr>
              <a:t>• Educational Scope:</a:t>
            </a:r>
            <a:r>
              <a:rPr sz="1275" b="0" i="0" u="none">
                <a:solidFill>
                  <a:srgbClr val="78350F"/>
                </a:solidFill>
                <a:latin typeface="Plus Jakarta Sans"/>
              </a:rPr>
              <a:t> Optimized for clear visualization over raw high-throughput solving speed.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2725" y="2644080"/>
            <a:ext cx="4800600" cy="45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1" i="0" u="none">
                <a:solidFill>
                  <a:srgbClr val="78350F"/>
                </a:solidFill>
                <a:latin typeface="Plus Jakarta Sans"/>
              </a:rPr>
              <a:t>• High Event Density:</a:t>
            </a:r>
            <a:r>
              <a:rPr sz="1275" b="0" i="0" u="none">
                <a:solidFill>
                  <a:srgbClr val="78350F"/>
                </a:solidFill>
                <a:latin typeface="Plus Jakarta Sans"/>
              </a:rPr>
              <a:t> Large puzzle instances generate extensive event logs during playback.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2725" y="3249810"/>
            <a:ext cx="4800600" cy="45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1" i="0" u="none">
                <a:solidFill>
                  <a:srgbClr val="78350F"/>
                </a:solidFill>
                <a:latin typeface="Plus Jakarta Sans"/>
              </a:rPr>
              <a:t>• Future Directions:</a:t>
            </a:r>
            <a:r>
              <a:rPr sz="1275" b="0" i="0" u="none">
                <a:solidFill>
                  <a:srgbClr val="78350F"/>
                </a:solidFill>
                <a:latin typeface="Plus Jakarta Sans"/>
              </a:rPr>
              <a:t> Custom user board creation, Arc Consistency (AC-3), and benchmark exports.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04925" y="1647825"/>
            <a:ext cx="303787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Implementation 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6575" y="1647825"/>
            <a:ext cx="316289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92400E"/>
                </a:solidFill>
                <a:latin typeface="Plus Jakarta Sans"/>
              </a:rPr>
              <a:t>Scope &amp; Future Directions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838575"/>
            <a:ext cx="5846415" cy="1371600"/>
          </a:xfrm>
          <a:prstGeom prst="roundRect">
            <a:avLst>
              <a:gd name="adj" fmla="val 11111"/>
            </a:avLst>
          </a:prstGeom>
          <a:solidFill>
            <a:srgbClr val="E7EDFF"/>
          </a:solidFill>
          <a:ln w="952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457450"/>
            <a:ext cx="2847082" cy="1190625"/>
          </a:xfrm>
          <a:prstGeom prst="roundRect">
            <a:avLst>
              <a:gd name="adj" fmla="val 12800"/>
            </a:avLst>
          </a:prstGeom>
          <a:solidFill>
            <a:srgbClr val="FFF5F5"/>
          </a:solidFill>
          <a:ln w="9525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09082" y="2457450"/>
            <a:ext cx="2847082" cy="1190625"/>
          </a:xfrm>
          <a:prstGeom prst="roundRect">
            <a:avLst>
              <a:gd name="adj" fmla="val 12800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915" y="1266825"/>
            <a:ext cx="4783484" cy="5133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840" y="1428750"/>
            <a:ext cx="4459634" cy="48101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4F46E5"/>
                </a:solidFill>
                <a:latin typeface="JetBrains Mono"/>
              </a:rPr>
              <a:t>08. EXPERIMENTAL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572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Sudoku Solver Benchmark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54" y="4076700"/>
            <a:ext cx="6712706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sz="3000" b="1" i="0" u="none">
                <a:solidFill>
                  <a:srgbClr val="4338CA"/>
                </a:solidFill>
                <a:latin typeface="Plus Jakarta Sans"/>
              </a:rPr>
              <a:t>98.7% Tree Reduction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54" y="4552950"/>
            <a:ext cx="6712706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3730A3"/>
                </a:solidFill>
                <a:latin typeface="Plus Jakarta Sans"/>
              </a:rPr>
              <a:t>102 candidate values pruned live via Forward Checking in benchmark test.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1370" y="2695575"/>
            <a:ext cx="296354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600" b="1" i="0" u="none">
                <a:solidFill>
                  <a:srgbClr val="DC2626"/>
                </a:solidFill>
                <a:latin typeface="Plus Jakarta Sans"/>
              </a:rPr>
              <a:t>4,209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1370" y="3228975"/>
            <a:ext cx="296354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991B1B"/>
                </a:solidFill>
                <a:latin typeface="Plus Jakarta Sans"/>
              </a:rPr>
              <a:t>Basic Backtracking Nodes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0853" y="2695575"/>
            <a:ext cx="296354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600" b="1" i="0" u="none">
                <a:solidFill>
                  <a:srgbClr val="16A34A"/>
                </a:solidFill>
                <a:latin typeface="Plus Jakarta Sans"/>
              </a:rPr>
              <a:t>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0853" y="3228975"/>
            <a:ext cx="296354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166534"/>
                </a:solidFill>
                <a:latin typeface="Plus Jakarta Sans"/>
              </a:rPr>
              <a:t>MRV Explored Nodes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43025"/>
            <a:ext cx="5372100" cy="2414587"/>
          </a:xfrm>
          <a:prstGeom prst="roundRect">
            <a:avLst>
              <a:gd name="adj" fmla="val 63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1343025"/>
            <a:ext cx="5372100" cy="2414587"/>
          </a:xfrm>
          <a:prstGeom prst="roundRect">
            <a:avLst>
              <a:gd name="adj" fmla="val 63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986212"/>
            <a:ext cx="5372100" cy="2414587"/>
          </a:xfrm>
          <a:prstGeom prst="roundRect">
            <a:avLst>
              <a:gd name="adj" fmla="val 63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3986212"/>
            <a:ext cx="5372100" cy="2414587"/>
          </a:xfrm>
          <a:prstGeom prst="roundRect">
            <a:avLst>
              <a:gd name="adj" fmla="val 63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581150"/>
            <a:ext cx="41910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1581150"/>
            <a:ext cx="41910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4224337"/>
            <a:ext cx="419100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8425" y="4224337"/>
            <a:ext cx="419100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1685925"/>
            <a:ext cx="209550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3200" y="1685925"/>
            <a:ext cx="20955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212" y="4329112"/>
            <a:ext cx="238125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67487" y="4329112"/>
            <a:ext cx="180975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4F46E5"/>
                </a:solidFill>
                <a:latin typeface="JetBrains Mono"/>
              </a:rPr>
              <a:t>09. INTERACTIVE MODULES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572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Implemented Puzzle Suite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092946"/>
            <a:ext cx="499110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9x9 grid constraint checking with MRV variable selection and candidate domain overlays.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8425" y="3092946"/>
            <a:ext cx="499110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Non-attacking queen placement on N×N boards highlighting row and diagonal conflict lines.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5736133"/>
            <a:ext cx="499110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Adjacency graph vertex coloring demonstrating forward checking neighbor domain pruning.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8425" y="5736133"/>
            <a:ext cx="499110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Mathematical cross-sum logic puzzles combining arithmetic sum constraints with unique digit rules.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00175" y="1671637"/>
            <a:ext cx="105013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Sudoku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0875" y="1671637"/>
            <a:ext cx="133016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N-Queens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0175" y="4314825"/>
            <a:ext cx="162520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Map Coloring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00875" y="4314825"/>
            <a:ext cx="10001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Kakuro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714500" y="4037707"/>
            <a:ext cx="4248150" cy="1274266"/>
          </a:xfrm>
          <a:prstGeom prst="roundRect">
            <a:avLst>
              <a:gd name="adj" fmla="val 11959"/>
            </a:avLst>
          </a:prstGeom>
          <a:solidFill>
            <a:srgbClr val="232545"/>
          </a:solidFill>
          <a:ln w="9525">
            <a:solidFill>
              <a:srgbClr val="2E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29350" y="4037707"/>
            <a:ext cx="4248150" cy="1274266"/>
          </a:xfrm>
          <a:prstGeom prst="roundRect">
            <a:avLst>
              <a:gd name="adj" fmla="val 11959"/>
            </a:avLst>
          </a:prstGeom>
          <a:solidFill>
            <a:srgbClr val="232545"/>
          </a:solidFill>
          <a:ln w="9525">
            <a:solidFill>
              <a:srgbClr val="2E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1546026"/>
            <a:ext cx="609600" cy="609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698426"/>
            <a:ext cx="304800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95512" y="2346126"/>
            <a:ext cx="7800975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300" b="1" i="0" u="none">
                <a:solidFill>
                  <a:srgbClr val="FFFFFF"/>
                </a:solidFill>
                <a:latin typeface="Plus Jakarta Sans"/>
              </a:rPr>
              <a:t>Conclusion &amp; 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4437" y="3031926"/>
            <a:ext cx="9763125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sz="1650" b="0" i="0" u="none">
                <a:solidFill>
                  <a:srgbClr val="CBD5E1"/>
                </a:solidFill>
                <a:latin typeface="Plus Jakarta Sans"/>
              </a:rPr>
              <a:t>PuzzleMind bridges abstract CSP theory with an interactive, step-by-step visual exploration engine.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90725" y="4313932"/>
            <a:ext cx="48506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818CF8"/>
                </a:solidFill>
                <a:latin typeface="Plus Jakarta Sans"/>
              </a:rPr>
              <a:t>Core Achievement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0725" y="4609207"/>
            <a:ext cx="379095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Demonstrated 98%+ search tree compression via intelligent MRV ordering and forward pruning.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5575" y="4313932"/>
            <a:ext cx="48506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Plus Jakarta Sans"/>
              </a:rPr>
              <a:t>Educational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5575" y="4609207"/>
            <a:ext cx="379095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Provides transparent visual feedback on backtracks, choices, and candidate domain states.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662</Words>
  <Application>Microsoft Office PowerPoint</Application>
  <PresentationFormat>Widescreen</PresentationFormat>
  <Paragraphs>99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JetBrains Mono</vt:lpstr>
      <vt:lpstr>Plus Jakarta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</dc:creator>
  <cp:keywords/>
  <dc:description>generated using python-pptx</dc:description>
  <cp:lastModifiedBy>Admin</cp:lastModifiedBy>
  <cp:revision>2</cp:revision>
  <dcterms:created xsi:type="dcterms:W3CDTF">2013-01-27T09:14:16Z</dcterms:created>
  <dcterms:modified xsi:type="dcterms:W3CDTF">2026-10-05T03:53:50Z</dcterms:modified>
  <cp:category/>
</cp:coreProperties>
</file>